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Islamabad GeoIntel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933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AI-Assisted Geographic Intelligence &amp; POI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420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DDEAF5"/>
                </a:solidFill>
                <a:latin typeface="Aptos"/>
              </a:defRPr>
            </a:pPr>
            <a:r>
              <a:t>Hackathon Final Submission • Deployed &amp; Validated • September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4005072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507992"/>
            <a:ext cx="18379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POIs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8862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4005072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4507992"/>
            <a:ext cx="18379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8862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87568" y="4005072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52/52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4507992"/>
            <a:ext cx="18379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8862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0727" y="4005072"/>
            <a:ext cx="183794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4507992"/>
            <a:ext cx="18379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DEAF5"/>
                </a:solidFill>
                <a:latin typeface="Aptos"/>
              </a:defRPr>
            </a:pPr>
            <a:r>
              <a:t>islamabad-geointel.streamlit.app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The challenge — and our 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Turn open geographic data into an owned, auditable city-intelligence layer.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Core discovery should not depend on a paid commercial places API.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Sector labels must come from evidence, not nearest-point guesswork.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Natural language should improve usability without inventing POIs or coordinates.</a:t>
            </a:r>
          </a:p>
          <a:p>
            <a:pPr>
              <a:spcAft>
                <a:spcPts val="1000"/>
              </a:spcAft>
              <a:defRPr sz="1900">
                <a:solidFill>
                  <a:srgbClr val="1F2937"/>
                </a:solidFill>
                <a:latin typeface="Aptos"/>
              </a:defRPr>
            </a:pPr>
            <a:r>
              <a:t>• The result should be deployable, mobile-friendly, testable and low-cost.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002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C83"/>
                </a:solidFill>
                <a:latin typeface="Aptos"/>
              </a:defRPr>
            </a:pPr>
            <a:r>
              <a:t>DESIGN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Local database =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9718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Open data → normalization → safe query layer → interactive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343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78A55"/>
                </a:solidFill>
                <a:latin typeface="Aptos"/>
              </a:defRPr>
            </a:pPr>
            <a:r>
              <a:t>No paid Google Places/Geocoding API.</a:t>
            </a:r>
            <a:br/>
            <a:r>
              <a:t>No external generative-AI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A modular pipeline with explicit boundaries between data, logic and presentation.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508760" cy="11430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50592"/>
            <a:ext cx="1362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OSM /</a:t>
            </a:r>
            <a:br/>
            <a:r>
              <a:t>Overpass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9112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5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04872" y="2148840"/>
            <a:ext cx="1508760" cy="1143000"/>
          </a:xfrm>
          <a:prstGeom prst="round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2450592"/>
            <a:ext cx="1362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Acquire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1063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5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2148840"/>
            <a:ext cx="1508760" cy="11430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2450592"/>
            <a:ext cx="1362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3016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5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148840"/>
            <a:ext cx="1508760" cy="1143000"/>
          </a:xfrm>
          <a:prstGeom prst="round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2450592"/>
            <a:ext cx="1362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5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2148840"/>
            <a:ext cx="1508760" cy="114300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450592"/>
            <a:ext cx="1362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Search + Geo</a:t>
            </a:r>
            <a:br/>
            <a:r>
              <a:t>+ NL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4871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5B657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2148840"/>
            <a:ext cx="1508760" cy="1143000"/>
          </a:xfrm>
          <a:prstGeom prst="round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5832" y="2450592"/>
            <a:ext cx="13624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  <a:br/>
            <a:r>
              <a:t>+ Folium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69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937"/>
                </a:solidFill>
                <a:latin typeface="Aptos"/>
              </a:defRPr>
            </a:pPr>
            <a:r>
              <a:t>Governance rails: provenance • unique OSM identity • evidence-based sectors • safe failure • no secrets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Pilot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F-5 / F-6 / F-7 discovery; reference points were never treated as sector boundaries.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1907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1,244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2199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raw occurrences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71907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1,049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22199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unique OSM identities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71907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2199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searchable POIs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60020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7" y="171907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249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7" y="222199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excluded by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Six raw GeoJSON acquisitions using address/tag and 1,200 m radius discovery.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195 duplicate occurrences identified before final normalization.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Raw tags/source retained for auditability.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Sector assignment uses explicit tag/address evidence; uncertain records stay uncertain.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Validated database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Final read-oriented SQLite database deployed with the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27631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800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3055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Searchable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627631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13055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27631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3055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Sector-attributed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508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7" y="1627631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708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7" y="213055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Not definitive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C83"/>
                </a:solidFill>
                <a:latin typeface="Aptos"/>
              </a:defRPr>
            </a:pPr>
            <a:r>
              <a:t>Sector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3"/>
                </a:solidFill>
                <a:latin typeface="Aptos"/>
              </a:defRPr>
            </a:pPr>
            <a:r>
              <a:t>F-5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05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365D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3"/>
                </a:solidFill>
                <a:latin typeface="Aptos"/>
              </a:defRPr>
            </a:pPr>
            <a:r>
              <a:t>F-6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005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365D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3"/>
                </a:solidFill>
                <a:latin typeface="Aptos"/>
              </a:defRPr>
            </a:pPr>
            <a:r>
              <a:t>F-7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005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365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3"/>
                </a:solidFill>
                <a:latin typeface="Aptos"/>
              </a:defRPr>
            </a:pPr>
            <a:r>
              <a:t>Ambiguous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005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365D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B6573"/>
                </a:solidFill>
                <a:latin typeface="Aptos"/>
              </a:defRPr>
            </a:pPr>
            <a:r>
              <a:t>Unassigned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0050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7365D"/>
                </a:solidFill>
                <a:latin typeface="Aptos"/>
              </a:defRPr>
            </a:pPr>
            <a:r>
              <a:t>681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66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8A55"/>
                </a:solidFill>
                <a:latin typeface="Aptos"/>
              </a:defRPr>
            </a:pPr>
            <a:r>
              <a:t>Integrity: ok  •  Unique key: (osm_type, osm_id)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What is in the pilot?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14 normalized categories; counts are pilot-database measurements, not citywide completeness claims.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food_drink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2971800" y="1444752"/>
            <a:ext cx="7040880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5832" y="141732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783080"/>
            <a:ext cx="6882063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7015" y="175564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130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93976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accommodation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121408"/>
            <a:ext cx="4605688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0640" y="2093976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3230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financial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459736"/>
            <a:ext cx="4393932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8884" y="243230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77063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professional_services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798064"/>
            <a:ext cx="4023360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277063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10896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136392"/>
            <a:ext cx="3599848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4800" y="31089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447287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government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474719"/>
            <a:ext cx="2752825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97777" y="344728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52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85615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recreation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3813048"/>
            <a:ext cx="2276374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21326" y="378561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123944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other_amenity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4151376"/>
            <a:ext cx="1905802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50754" y="412394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46227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4489704"/>
            <a:ext cx="1641107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6059" y="446227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00600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religion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4828032"/>
            <a:ext cx="1641107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6059" y="48006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138928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healthcare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5166360"/>
            <a:ext cx="1270534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15486" y="51389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477255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public_service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5504688"/>
            <a:ext cx="264694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09646" y="5477255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815583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ptos"/>
              </a:defRPr>
            </a:pPr>
            <a:r>
              <a:t>emergency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71800" y="5843016"/>
            <a:ext cx="52938" cy="164592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7890" y="5815583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7365D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The deployed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Three search modes + emergency quick action, backed by the same local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(20260912-11271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903720" cy="32336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55448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Standard: name/category/sector filters.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Proximity: browser location, manual coordinates or map click.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Natural Language: constrained parser → structured QueryPlan.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Emergency: first-class category with explicit pilot warning.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Outbound Google Maps navigation links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AI-assisted — without 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Deterministic natural-language parsing keeps the database as the source of truth.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663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“hospitals in F-6”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40680" y="15727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C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5361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  <a:latin typeface="Aptos"/>
              </a:defRPr>
            </a:pPr>
            <a:r>
              <a:t>1 • Kulsum International Hospital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4663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505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“food in F-6”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C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048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  <a:latin typeface="Aptos"/>
              </a:defRPr>
            </a:pPr>
            <a:r>
              <a:t>10 POIs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4663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192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“nearest hospital”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33101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C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273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  <a:latin typeface="Aptos"/>
              </a:defRPr>
            </a:pPr>
            <a:r>
              <a:t>Nearest result +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23359"/>
            <a:ext cx="4663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8795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“emergency within 2 km”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1788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C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142231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  <a:latin typeface="Aptos"/>
              </a:defRPr>
            </a:pPr>
            <a:r>
              <a:t>1 • تھانہ کوہسار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92040"/>
            <a:ext cx="4663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5663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  <a:latin typeface="Aptos"/>
              </a:defRPr>
            </a:pPr>
            <a:r>
              <a:t>“best beautiful places”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0474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C83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01091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937"/>
                </a:solidFill>
                <a:latin typeface="Aptos"/>
              </a:defRPr>
            </a:pPr>
            <a:r>
              <a:t>Safe unsupported-query 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8A55"/>
                </a:solidFill>
                <a:latin typeface="Aptos"/>
              </a:defRPr>
            </a:pPr>
            <a:r>
              <a:t>No arbitrary SQL • No external LLM • No invented coordinates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Geographic intelligence that stays synchronized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Map clicks update the exact SQLite origin used for radius and distance calculations.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s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543800" cy="32306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1554480"/>
            <a:ext cx="3337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Haversine distance locally.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Red origin + radius circle.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POI click or empty-map click moves origin.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Results and distances recalculate.</a:t>
            </a:r>
          </a:p>
          <a:p>
            <a:pPr>
              <a:spcAft>
                <a:spcPts val="10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OSM attribution visible on 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5074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ptos"/>
              </a:defRPr>
            </a:pPr>
            <a:r>
              <a:t>Correctness was prioritized over eliminating Streamlit rerun dimming.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Deployment &amp; mobile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The local HTTP limitation disappeared where it should: on the final HTTPS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Aptos"/>
              </a:defRPr>
            </a:pPr>
            <a:r>
              <a:t>LOCAL LAN /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2937"/>
                </a:solidFill>
                <a:latin typeface="Aptos"/>
              </a:defRPr>
            </a:pPr>
            <a:r>
              <a:t>Browser geolocation could be blocked.</a:t>
            </a:r>
            <a:br/>
            <a:r>
              <a:t>Safe fallback + manual/map origin remained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8A55"/>
                </a:solidFill>
                <a:latin typeface="Aptos"/>
              </a:defRPr>
            </a:pPr>
            <a:r>
              <a:t>PRODUCTION / HTTPS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65D"/>
                </a:solidFill>
                <a:latin typeface="Aptos"/>
              </a:defRPr>
            </a:pPr>
            <a:r>
              <a:t>iPhone automatic browser geolocation validated successfully.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C83"/>
                </a:solidFill>
                <a:latin typeface="Aptos"/>
              </a:defRPr>
            </a:pPr>
            <a:r>
              <a:t>Live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365D"/>
                </a:solidFill>
                <a:latin typeface="Aptos"/>
              </a:defRPr>
            </a:pPr>
            <a:r>
              <a:t>islamabad-geointel.streamlit.app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79476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F2937"/>
                </a:solidFill>
                <a:latin typeface="Aptos"/>
              </a:defRPr>
            </a:pPr>
            <a:r>
              <a:t>GitHub → Streamlit Community Cloud</a:t>
            </a:r>
            <a:br/>
            <a:r>
              <a:t>main • app.py • Python 3.14 • no secrets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Verification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Automated tests plus live functional checks — not just a successful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52/52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3911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automated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53619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03911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“bank”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3619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3911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hospital in F-6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41732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62287" y="1536192"/>
            <a:ext cx="2203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7C83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7" y="2039112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B6573"/>
                </a:solidFill>
                <a:latin typeface="Aptos"/>
              </a:defRPr>
            </a:pPr>
            <a:r>
              <a:t>mobile geolocation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SQLite integrity check: ok.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Live Proximity: red origin, circle, active origin and distances all update.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Live Emergency: warning + 1 pilot record + map/proximity validated.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Deployment commit 77eff03 pushed to origin/main.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Working tree clean after archiving obsolete draft artifacts.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Responsible data &amp; cost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The prototype is intentionally conservative about provenance, uncertainty and external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OSM-derived data remains under ODbL; attribution retained.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Software code licensed under MIT.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No Google scraping; no billing-backed Places/Geocoding API.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No external generative-AI API for natural-language search.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Emergency result is explicitly labelled as incomplete pilot coverage.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OSM contact/address/opening-hours values are source-derived, not independently verified.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Limitations → 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A hackathon pilot with a clear path to city-scale operation.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Aptos"/>
              </a:defRPr>
            </a:pPr>
            <a:r>
              <a:t>CURRENT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F-5/F-6/F-7 only.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No consistent sector polygons.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OSM completeness/freshness varies.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Radius search uses large candidate scan.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Bounded NL vocabulary.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417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78A5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Islamabad-wide scheduled acquisition.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Authoritative polygons + point-in-polygon.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PostgreSQL/PostGIS at scale.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Broader safe NL grammar.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  <a:latin typeface="Aptos"/>
              </a:defRPr>
            </a:pPr>
            <a:r>
              <a:t>• Freshness, audit, export &amp; governance tooling.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365D"/>
                </a:solidFill>
                <a:latin typeface="Aptos"/>
              </a:defRPr>
            </a:pPr>
            <a:r>
              <a:t>Why this is hackathon-ready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573"/>
                </a:solidFill>
                <a:latin typeface="Aptos"/>
              </a:defRPr>
            </a:pPr>
            <a:r>
              <a:t>A complete vertical slice: data engineering → geospatial logic → AI-assisted UX →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25296"/>
            <a:ext cx="914400" cy="54864"/>
          </a:xfrm>
          <a:prstGeom prst="rect">
            <a:avLst/>
          </a:prstGeom>
          <a:solidFill>
            <a:srgbClr val="00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C83"/>
                </a:solidFill>
                <a:latin typeface="Aptos"/>
              </a:defRPr>
            </a:pPr>
            <a:r>
              <a:t>OWN 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800 normalized POIs</a:t>
            </a:r>
            <a:br/>
            <a:r>
              <a:t>Auditable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642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C83"/>
                </a:solidFill>
                <a:latin typeface="Aptos"/>
              </a:defRPr>
            </a:pPr>
            <a:r>
              <a:t>SAFE AI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2140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Deterministic NL</a:t>
            </a:r>
            <a:br/>
            <a:r>
              <a:t>No hallucinated places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630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6642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C83"/>
                </a:solidFill>
                <a:latin typeface="Aptos"/>
              </a:defRPr>
            </a:pPr>
            <a:r>
              <a:t>GEO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12140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Radius / nearest</a:t>
            </a:r>
            <a:br/>
            <a:r>
              <a:t>Interactive origin sync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20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C83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7880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52 passing tests</a:t>
            </a:r>
            <a:br/>
            <a:r>
              <a:t>Git milestones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20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7216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C83"/>
                </a:solidFill>
                <a:latin typeface="Aptos"/>
              </a:defRPr>
            </a:pPr>
            <a: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7880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Responsive UI</a:t>
            </a:r>
            <a:br/>
            <a:r>
              <a:t>HTTPS geolocation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352044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3721608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7C83"/>
                </a:solidFill>
                <a:latin typeface="Aptos"/>
              </a:defRPr>
            </a:pPr>
            <a:r>
              <a:t>LOW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17880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7365D"/>
                </a:solidFill>
                <a:latin typeface="Aptos"/>
              </a:defRPr>
            </a:pPr>
            <a:r>
              <a:t>Open data</a:t>
            </a:r>
            <a:br/>
            <a:r>
              <a:t>No paid Google/LLM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Islamabad GeoIntel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DEAF5"/>
                </a:solidFill>
                <a:latin typeface="Aptos"/>
              </a:defRPr>
            </a:pPr>
            <a:r>
              <a:t>Open data. Owned intelligence. Auditable AI-assisted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2461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E5D9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70332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islamabad-geointel.streamlit.app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4572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DEAF5"/>
                </a:solidFill>
                <a:latin typeface="Aptos"/>
              </a:defRPr>
            </a:pPr>
            <a:r>
              <a:t>Source: github.com/ahmadsajjad-logix/islamabad-geointel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5623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