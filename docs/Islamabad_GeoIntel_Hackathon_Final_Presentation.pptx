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1" r:id="rId22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23444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ptos"/>
              </a:defRPr>
            </a:pPr>
            <a:r>
              <a:t>Islamabad GeoIntel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99339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FFFFFF"/>
                </a:solidFill>
                <a:latin typeface="Aptos"/>
              </a:defRPr>
            </a:pPr>
            <a:r>
              <a:t>AI-Assisted Geographic Intelligence &amp; POI Discovery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42032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DDEAF5"/>
                </a:solidFill>
                <a:latin typeface="Aptos"/>
              </a:defRPr>
            </a:pPr>
            <a:r>
              <a:t>Hackathon Final Submission • Deployed &amp; Validated • September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86200"/>
            <a:ext cx="20574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D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4005072"/>
            <a:ext cx="183794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FFFFFF"/>
                </a:solidFill>
                <a:latin typeface="Aptos"/>
              </a:defRPr>
            </a:pPr>
            <a:r>
              <a:t>800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507992"/>
            <a:ext cx="18379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B6573"/>
                </a:solidFill>
                <a:latin typeface="Aptos"/>
              </a:defRPr>
            </a:pPr>
            <a:r>
              <a:t>POIs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54680" y="3886200"/>
            <a:ext cx="20574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D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64408" y="4005072"/>
            <a:ext cx="183794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FFFFFF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64408" y="4507992"/>
            <a:ext cx="18379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B6573"/>
                </a:solidFill>
                <a:latin typeface="Aptos"/>
              </a:defRPr>
            </a:pPr>
            <a:r>
              <a:t>Categories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77840" y="3886200"/>
            <a:ext cx="20574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D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87568" y="4005072"/>
            <a:ext cx="183794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FFFFFF"/>
                </a:solidFill>
                <a:latin typeface="Aptos"/>
              </a:defRPr>
            </a:pPr>
            <a:r>
              <a:t>52/52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87568" y="4507992"/>
            <a:ext cx="18379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B6573"/>
                </a:solidFill>
                <a:latin typeface="Aptos"/>
              </a:defRPr>
            </a:pPr>
            <a:r>
              <a:t>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3886200"/>
            <a:ext cx="20574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D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10727" y="4005072"/>
            <a:ext cx="183794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FFFFFF"/>
                </a:solidFill>
                <a:latin typeface="Aptos"/>
              </a:defRPr>
            </a:pPr>
            <a:r>
              <a:t>HTTPS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0727" y="4507992"/>
            <a:ext cx="183794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B6573"/>
                </a:solidFill>
                <a:latin typeface="Aptos"/>
              </a:defRPr>
            </a:pPr>
            <a:r>
              <a:t>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8978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DDEAF5"/>
                </a:solidFill>
                <a:latin typeface="Aptos"/>
              </a:defRPr>
            </a:pPr>
            <a:r>
              <a:t>islamabad-geointel.streamlit.app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Team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554480"/>
            <a:ext cx="5212080" cy="1828800"/>
          </a:xfrm>
          <a:prstGeom prst="roundRect">
            <a:avLst/>
          </a:prstGeom>
          <a:solidFill>
            <a:srgbClr val="F7FAFD"/>
          </a:solidFill>
          <a:ln w="15875">
            <a:solidFill>
              <a:srgbClr val="2F6F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46304"/>
          <a:lstStyle/>
          <a:p>
            <a:pPr algn="ctr">
              <a:defRPr sz="1300" b="1"/>
            </a:pPr>
            <a:r>
              <a:rPr b="1">
                <a:solidFill>
                  <a:srgbClr val="2F6FB5"/>
                </a:solidFill>
              </a:rPr>
              <a:t>Team Leader</a:t>
            </a:r>
          </a:p>
          <a:p>
            <a:pPr>
              <a:defRPr sz="2000" b="1"/>
            </a:pPr>
            <a:r>
              <a:rPr b="1">
                <a:solidFill>
                  <a:srgbClr val="142332"/>
                </a:solidFill>
              </a:rPr>
              <a:t>Sajjad Ahmad</a:t>
            </a:r>
          </a:p>
          <a:p>
            <a:pPr>
              <a:defRPr sz="1100"/>
            </a:pPr>
            <a:r>
              <a:rPr>
                <a:solidFill>
                  <a:srgbClr val="46505A"/>
                </a:solidFill>
              </a:rPr>
              <a:t>sajjad.danish@gmail.com</a:t>
            </a:r>
          </a:p>
          <a:p>
            <a:pPr>
              <a:defRPr sz="1100"/>
            </a:pPr>
            <a:r>
              <a:rPr>
                <a:solidFill>
                  <a:srgbClr val="46505A"/>
                </a:solidFill>
              </a:rPr>
              <a:t>Cell: 03005996696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554480"/>
            <a:ext cx="5212080" cy="1828800"/>
          </a:xfrm>
          <a:prstGeom prst="roundRect">
            <a:avLst/>
          </a:prstGeom>
          <a:solidFill>
            <a:srgbClr val="F7FAFD"/>
          </a:solidFill>
          <a:ln w="15875">
            <a:solidFill>
              <a:srgbClr val="2F6F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46304"/>
          <a:lstStyle/>
          <a:p>
            <a:pPr algn="ctr">
              <a:defRPr sz="1300" b="1"/>
            </a:pPr>
            <a:r>
              <a:rPr b="1">
                <a:solidFill>
                  <a:srgbClr val="2F6FB5"/>
                </a:solidFill>
              </a:rPr>
              <a:t>Team Member #01</a:t>
            </a:r>
          </a:p>
          <a:p>
            <a:pPr>
              <a:defRPr sz="2000" b="1"/>
            </a:pPr>
            <a:r>
              <a:rPr b="1">
                <a:solidFill>
                  <a:srgbClr val="142332"/>
                </a:solidFill>
              </a:rPr>
              <a:t>Anam Arif</a:t>
            </a:r>
          </a:p>
          <a:p>
            <a:pPr>
              <a:defRPr sz="1100"/>
            </a:pPr>
            <a:r>
              <a:rPr>
                <a:solidFill>
                  <a:srgbClr val="46505A"/>
                </a:solidFill>
              </a:rPr>
              <a:t>anamarif28@gmail.com</a:t>
            </a:r>
          </a:p>
          <a:p>
            <a:pPr>
              <a:defRPr sz="1100"/>
            </a:pPr>
            <a:r>
              <a:rPr>
                <a:solidFill>
                  <a:srgbClr val="46505A"/>
                </a:solidFill>
              </a:rPr>
              <a:t>Cell: 03005025666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931920"/>
            <a:ext cx="5212080" cy="1828800"/>
          </a:xfrm>
          <a:prstGeom prst="roundRect">
            <a:avLst/>
          </a:prstGeom>
          <a:solidFill>
            <a:srgbClr val="F7FAFD"/>
          </a:solidFill>
          <a:ln w="15875">
            <a:solidFill>
              <a:srgbClr val="2F6F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46304"/>
          <a:lstStyle/>
          <a:p>
            <a:pPr algn="ctr">
              <a:defRPr sz="1300" b="1"/>
            </a:pPr>
            <a:r>
              <a:rPr b="1">
                <a:solidFill>
                  <a:srgbClr val="2F6FB5"/>
                </a:solidFill>
              </a:rPr>
              <a:t>Team Member #02</a:t>
            </a:r>
          </a:p>
          <a:p>
            <a:pPr>
              <a:defRPr sz="2000" b="1"/>
            </a:pPr>
            <a:r>
              <a:rPr b="1">
                <a:solidFill>
                  <a:srgbClr val="142332"/>
                </a:solidFill>
              </a:rPr>
              <a:t>Junaid Nagi</a:t>
            </a:r>
          </a:p>
          <a:p>
            <a:pPr>
              <a:defRPr sz="1100"/>
            </a:pPr>
            <a:r>
              <a:rPr>
                <a:solidFill>
                  <a:srgbClr val="46505A"/>
                </a:solidFill>
              </a:rPr>
              <a:t>junaidnagi@gmail.com</a:t>
            </a:r>
          </a:p>
          <a:p>
            <a:pPr>
              <a:defRPr sz="1100"/>
            </a:pPr>
            <a:r>
              <a:rPr>
                <a:solidFill>
                  <a:srgbClr val="46505A"/>
                </a:solidFill>
              </a:rPr>
              <a:t>Cell: 03005525526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3931920"/>
            <a:ext cx="5212080" cy="1828800"/>
          </a:xfrm>
          <a:prstGeom prst="roundRect">
            <a:avLst/>
          </a:prstGeom>
          <a:solidFill>
            <a:srgbClr val="F7FAFD"/>
          </a:solidFill>
          <a:ln w="15875">
            <a:solidFill>
              <a:srgbClr val="2F6F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46304"/>
          <a:lstStyle/>
          <a:p>
            <a:pPr algn="ctr">
              <a:defRPr sz="1300" b="1"/>
            </a:pPr>
            <a:r>
              <a:rPr b="1">
                <a:solidFill>
                  <a:srgbClr val="2F6FB5"/>
                </a:solidFill>
              </a:rPr>
              <a:t>Team Member #03</a:t>
            </a:r>
          </a:p>
          <a:p>
            <a:pPr>
              <a:defRPr sz="2000" b="1"/>
            </a:pPr>
            <a:r>
              <a:rPr b="1">
                <a:solidFill>
                  <a:srgbClr val="142332"/>
                </a:solidFill>
              </a:rPr>
              <a:t>Maleeha Saeed</a:t>
            </a:r>
          </a:p>
          <a:p>
            <a:pPr>
              <a:defRPr sz="1100"/>
            </a:pPr>
            <a:r>
              <a:rPr>
                <a:solidFill>
                  <a:srgbClr val="46505A"/>
                </a:solidFill>
              </a:rPr>
              <a:t>maleehasaeed79@gmail.com</a:t>
            </a:r>
          </a:p>
          <a:p>
            <a:pPr>
              <a:defRPr sz="1100"/>
            </a:pPr>
            <a:r>
              <a:rPr>
                <a:solidFill>
                  <a:srgbClr val="46505A"/>
                </a:solidFill>
              </a:rPr>
              <a:t>Cell: 03005359436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17365D"/>
                </a:solidFill>
                <a:latin typeface="Aptos"/>
              </a:defRPr>
            </a:pPr>
            <a:r>
              <a:t>The challenge — and our design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9611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B6573"/>
                </a:solidFill>
                <a:latin typeface="Aptos"/>
              </a:defRPr>
            </a:pPr>
            <a:r>
              <a:t>Turn open geographic data into an owned, auditable city-intelligence layer.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1225296"/>
            <a:ext cx="914400" cy="54864"/>
          </a:xfrm>
          <a:prstGeom prst="rect">
            <a:avLst/>
          </a:prstGeom>
          <a:solidFill>
            <a:srgbClr val="00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1F2937"/>
                </a:solidFill>
                <a:latin typeface="Aptos"/>
              </a:defRPr>
            </a:pPr>
            <a:r>
              <a:t>• Core discovery should not depend on a paid commercial places API.</a:t>
            </a:r>
          </a:p>
          <a:p>
            <a:pPr>
              <a:spcAft>
                <a:spcPts val="1000"/>
              </a:spcAft>
              <a:defRPr sz="1900">
                <a:solidFill>
                  <a:srgbClr val="1F2937"/>
                </a:solidFill>
                <a:latin typeface="Aptos"/>
              </a:defRPr>
            </a:pPr>
            <a:r>
              <a:t>• Sector labels must come from evidence, not nearest-point guesswork.</a:t>
            </a:r>
          </a:p>
          <a:p>
            <a:pPr>
              <a:spcAft>
                <a:spcPts val="1000"/>
              </a:spcAft>
              <a:defRPr sz="1900">
                <a:solidFill>
                  <a:srgbClr val="1F2937"/>
                </a:solidFill>
                <a:latin typeface="Aptos"/>
              </a:defRPr>
            </a:pPr>
            <a:r>
              <a:t>• Natural language should improve usability without inventing POIs or coordinates.</a:t>
            </a:r>
          </a:p>
          <a:p>
            <a:pPr>
              <a:spcAft>
                <a:spcPts val="1000"/>
              </a:spcAft>
              <a:defRPr sz="1900">
                <a:solidFill>
                  <a:srgbClr val="1F2937"/>
                </a:solidFill>
                <a:latin typeface="Aptos"/>
              </a:defRPr>
            </a:pPr>
            <a:r>
              <a:t>• The result should be deployable, mobile-friendly, testable and low-cost.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60020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7C83"/>
                </a:solidFill>
                <a:latin typeface="Aptos"/>
              </a:defRPr>
            </a:pPr>
            <a:r>
              <a:t>DESIGN 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205740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17365D"/>
                </a:solidFill>
                <a:latin typeface="Aptos"/>
              </a:defRPr>
            </a:pPr>
            <a:r>
              <a:t>Local database = source of truth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971800"/>
            <a:ext cx="4297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F2937"/>
                </a:solidFill>
                <a:latin typeface="Aptos"/>
              </a:defRPr>
            </a:pPr>
            <a:r>
              <a:t>Open data → normalization → safe query layer → interactive 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4343400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78A55"/>
                </a:solidFill>
                <a:latin typeface="Aptos"/>
              </a:defRPr>
            </a:pPr>
            <a:r>
              <a:t>No paid Google Places/Geocoding API.</a:t>
            </a:r>
            <a:br/>
            <a:r>
              <a:t>No external generative-AI API.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17365D"/>
                </a:solidFill>
                <a:latin typeface="Aptos"/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9611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B6573"/>
                </a:solidFill>
                <a:latin typeface="Aptos"/>
              </a:defRPr>
            </a:pPr>
            <a:r>
              <a:t>A modular pipeline with explicit boundaries between data, logic and presentation.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1225296"/>
            <a:ext cx="914400" cy="54864"/>
          </a:xfrm>
          <a:prstGeom prst="rect">
            <a:avLst/>
          </a:prstGeom>
          <a:solidFill>
            <a:srgbClr val="00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2148840"/>
            <a:ext cx="1508760" cy="1143000"/>
          </a:xfrm>
          <a:prstGeom prst="roundRect">
            <a:avLst/>
          </a:prstGeom>
          <a:solidFill>
            <a:srgbClr val="17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2450592"/>
            <a:ext cx="13624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</a:defRPr>
            </a:pPr>
            <a:r>
              <a:t>OSM /</a:t>
            </a:r>
            <a:br/>
            <a:r>
              <a:t>Overpass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39112" y="248716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5B6573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04872" y="2148840"/>
            <a:ext cx="1508760" cy="1143000"/>
          </a:xfrm>
          <a:prstGeom prst="roundRect">
            <a:avLst/>
          </a:prstGeom>
          <a:solidFill>
            <a:srgbClr val="00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78024" y="2450592"/>
            <a:ext cx="13624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</a:defRPr>
            </a:pPr>
            <a:r>
              <a:t>Acquire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41063" y="248716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5B6573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2148840"/>
            <a:ext cx="1508760" cy="1143000"/>
          </a:xfrm>
          <a:prstGeom prst="roundRect">
            <a:avLst/>
          </a:prstGeom>
          <a:solidFill>
            <a:srgbClr val="17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9976" y="2450592"/>
            <a:ext cx="13624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</a:defRPr>
            </a:pPr>
            <a:r>
              <a:t>Normalize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3016" y="248716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5B6573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148840"/>
            <a:ext cx="1508760" cy="1143000"/>
          </a:xfrm>
          <a:prstGeom prst="roundRect">
            <a:avLst/>
          </a:prstGeom>
          <a:solidFill>
            <a:srgbClr val="00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1928" y="2450592"/>
            <a:ext cx="13624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</a:defRPr>
            </a:pPr>
            <a:r>
              <a:t>SQLite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4968" y="248716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5B6573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0728" y="2148840"/>
            <a:ext cx="1508760" cy="1143000"/>
          </a:xfrm>
          <a:prstGeom prst="roundRect">
            <a:avLst/>
          </a:prstGeom>
          <a:solidFill>
            <a:srgbClr val="17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83880" y="2450592"/>
            <a:ext cx="13624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</a:defRPr>
            </a:pPr>
            <a:r>
              <a:t>Search + Geo</a:t>
            </a:r>
            <a:br/>
            <a:r>
              <a:t>+ NL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248716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5B6573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12680" y="2148840"/>
            <a:ext cx="1508760" cy="1143000"/>
          </a:xfrm>
          <a:prstGeom prst="roundRect">
            <a:avLst/>
          </a:prstGeom>
          <a:solidFill>
            <a:srgbClr val="00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5832" y="2450592"/>
            <a:ext cx="13624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</a:defRPr>
            </a:pPr>
            <a:r>
              <a:t>Streamlit</a:t>
            </a:r>
            <a:br/>
            <a:r>
              <a:t>+ Folium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069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F2937"/>
                </a:solidFill>
                <a:latin typeface="Aptos"/>
              </a:defRPr>
            </a:pPr>
            <a:r>
              <a:t>Governance rails: provenance • unique OSM identity • evidence-based sectors • safe failure • no secrets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17365D"/>
                </a:solidFill>
                <a:latin typeface="Aptos"/>
              </a:defRPr>
            </a:pPr>
            <a:r>
              <a:t>Pilot data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9611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B6573"/>
                </a:solidFill>
                <a:latin typeface="Aptos"/>
              </a:defRPr>
            </a:pPr>
            <a:r>
              <a:t>F-5 / F-6 / F-7 discovery; reference points were never treated as sector boundaries.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1225296"/>
            <a:ext cx="914400" cy="54864"/>
          </a:xfrm>
          <a:prstGeom prst="rect">
            <a:avLst/>
          </a:prstGeom>
          <a:solidFill>
            <a:srgbClr val="00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242316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D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719072"/>
            <a:ext cx="22037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007C83"/>
                </a:solidFill>
                <a:latin typeface="Aptos"/>
              </a:defRPr>
            </a:pPr>
            <a:r>
              <a:t>1,244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221992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B6573"/>
                </a:solidFill>
                <a:latin typeface="Aptos"/>
              </a:defRPr>
            </a:pPr>
            <a:r>
              <a:t>raw occurrences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600200"/>
            <a:ext cx="242316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D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38728" y="1719072"/>
            <a:ext cx="22037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007C83"/>
                </a:solidFill>
                <a:latin typeface="Aptos"/>
              </a:defRPr>
            </a:pPr>
            <a:r>
              <a:t>1,049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8" y="2221992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B6573"/>
                </a:solidFill>
                <a:latin typeface="Aptos"/>
              </a:defRPr>
            </a:pPr>
            <a:r>
              <a:t>unique OSM identities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00200"/>
            <a:ext cx="242316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D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719072"/>
            <a:ext cx="22037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007C83"/>
                </a:solidFill>
                <a:latin typeface="Aptos"/>
              </a:defRPr>
            </a:pPr>
            <a:r>
              <a:t>800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221992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B6573"/>
                </a:solidFill>
                <a:latin typeface="Aptos"/>
              </a:defRPr>
            </a:pPr>
            <a:r>
              <a:t>searchable POIs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39" y="1600200"/>
            <a:ext cx="242316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D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16567" y="1719072"/>
            <a:ext cx="22037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007C83"/>
                </a:solidFill>
                <a:latin typeface="Aptos"/>
              </a:defRPr>
            </a:pPr>
            <a:r>
              <a:t>249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16567" y="2221992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B6573"/>
                </a:solidFill>
                <a:latin typeface="Aptos"/>
              </a:defRPr>
            </a:pPr>
            <a:r>
              <a:t>excluded by rules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154680"/>
            <a:ext cx="10424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F2937"/>
                </a:solidFill>
                <a:latin typeface="Aptos"/>
              </a:defRPr>
            </a:pPr>
            <a:r>
              <a:t>• Six raw GeoJSON acquisitions using address/tag and 1,200 m radius discovery.</a:t>
            </a:r>
          </a:p>
          <a:p>
            <a:pPr>
              <a:spcAft>
                <a:spcPts val="1000"/>
              </a:spcAft>
              <a:defRPr sz="1700">
                <a:solidFill>
                  <a:srgbClr val="1F2937"/>
                </a:solidFill>
                <a:latin typeface="Aptos"/>
              </a:defRPr>
            </a:pPr>
            <a:r>
              <a:t>• 195 duplicate occurrences identified before final normalization.</a:t>
            </a:r>
          </a:p>
          <a:p>
            <a:pPr>
              <a:spcAft>
                <a:spcPts val="1000"/>
              </a:spcAft>
              <a:defRPr sz="1700">
                <a:solidFill>
                  <a:srgbClr val="1F2937"/>
                </a:solidFill>
                <a:latin typeface="Aptos"/>
              </a:defRPr>
            </a:pPr>
            <a:r>
              <a:t>• Raw tags/source retained for auditability.</a:t>
            </a:r>
          </a:p>
          <a:p>
            <a:pPr>
              <a:spcAft>
                <a:spcPts val="1000"/>
              </a:spcAft>
              <a:defRPr sz="1700">
                <a:solidFill>
                  <a:srgbClr val="1F2937"/>
                </a:solidFill>
                <a:latin typeface="Aptos"/>
              </a:defRPr>
            </a:pPr>
            <a:r>
              <a:t>• Sector assignment uses explicit tag/address evidence; uncertain records stay uncertain.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17365D"/>
                </a:solidFill>
                <a:latin typeface="Aptos"/>
              </a:defRPr>
            </a:pPr>
            <a:r>
              <a:t>Validated database snapshot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9611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B6573"/>
                </a:solidFill>
                <a:latin typeface="Aptos"/>
              </a:defRPr>
            </a:pPr>
            <a:r>
              <a:t>Final read-oriented SQLite database deployed with the application.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1225296"/>
            <a:ext cx="914400" cy="54864"/>
          </a:xfrm>
          <a:prstGeom prst="rect">
            <a:avLst/>
          </a:prstGeom>
          <a:solidFill>
            <a:srgbClr val="00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242316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D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627631"/>
            <a:ext cx="22037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007C83"/>
                </a:solidFill>
                <a:latin typeface="Aptos"/>
              </a:defRPr>
            </a:pPr>
            <a:r>
              <a:t>800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130552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B6573"/>
                </a:solidFill>
                <a:latin typeface="Aptos"/>
              </a:defRPr>
            </a:pPr>
            <a:r>
              <a:t>Searchable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508760"/>
            <a:ext cx="242316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D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84448" y="1627631"/>
            <a:ext cx="22037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007C83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4448" y="2130552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B6573"/>
                </a:solidFill>
                <a:latin typeface="Aptos"/>
              </a:defRPr>
            </a:pPr>
            <a:r>
              <a:t>Categories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08760"/>
            <a:ext cx="242316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D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1627631"/>
            <a:ext cx="22037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007C83"/>
                </a:solidFill>
                <a:latin typeface="Aptos"/>
              </a:defRPr>
            </a:pPr>
            <a:r>
              <a:t>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2130552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B6573"/>
                </a:solidFill>
                <a:latin typeface="Aptos"/>
              </a:defRPr>
            </a:pPr>
            <a:r>
              <a:t>Sector-attributed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59" y="1508760"/>
            <a:ext cx="242316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D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62287" y="1627631"/>
            <a:ext cx="22037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007C83"/>
                </a:solidFill>
                <a:latin typeface="Aptos"/>
              </a:defRPr>
            </a:pPr>
            <a:r>
              <a:t>708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62287" y="2130552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B6573"/>
                </a:solidFill>
                <a:latin typeface="Aptos"/>
              </a:defRPr>
            </a:pPr>
            <a:r>
              <a:t>Not definitive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063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7C83"/>
                </a:solidFill>
                <a:latin typeface="Aptos"/>
              </a:defRPr>
            </a:pPr>
            <a:r>
              <a:t>Sector attribution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657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B6573"/>
                </a:solidFill>
                <a:latin typeface="Aptos"/>
              </a:defRPr>
            </a:pPr>
            <a:r>
              <a:t>F-5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00507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7365D"/>
                </a:solidFill>
                <a:latin typeface="Aptos"/>
              </a:defRPr>
            </a:pPr>
            <a:r>
              <a:t>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3657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B6573"/>
                </a:solidFill>
                <a:latin typeface="Aptos"/>
              </a:defRPr>
            </a:pPr>
            <a:r>
              <a:t>F-6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71800" y="400507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7365D"/>
                </a:solidFill>
                <a:latin typeface="Aptos"/>
              </a:defRPr>
            </a:pPr>
            <a:r>
              <a:t>43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3657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B6573"/>
                </a:solidFill>
                <a:latin typeface="Aptos"/>
              </a:defRPr>
            </a:pPr>
            <a:r>
              <a:t>F-7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400507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7365D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80" y="3657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B6573"/>
                </a:solidFill>
                <a:latin typeface="Aptos"/>
              </a:defRPr>
            </a:pPr>
            <a:r>
              <a:t>Ambiguous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400507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7365D"/>
                </a:solidFill>
                <a:latin typeface="Aptos"/>
              </a:defRPr>
            </a:pPr>
            <a:r>
              <a:t>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3657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B6573"/>
                </a:solidFill>
                <a:latin typeface="Aptos"/>
              </a:defRPr>
            </a:pPr>
            <a:r>
              <a:t>Unassigned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400507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7365D"/>
                </a:solidFill>
                <a:latin typeface="Aptos"/>
              </a:defRPr>
            </a:pPr>
            <a:r>
              <a:t>681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16636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78A55"/>
                </a:solidFill>
                <a:latin typeface="Aptos"/>
              </a:defRPr>
            </a:pPr>
            <a:r>
              <a:t>Integrity: ok  •  Unique key: (osm_type, osm_id)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17365D"/>
                </a:solidFill>
                <a:latin typeface="Aptos"/>
              </a:defRPr>
            </a:pPr>
            <a:r>
              <a:t>What is in the pilot?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9611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B6573"/>
                </a:solidFill>
                <a:latin typeface="Aptos"/>
              </a:defRPr>
            </a:pPr>
            <a:r>
              <a:t>14 normalized categories; counts are pilot-database measurements, not citywide completeness claims.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1225296"/>
            <a:ext cx="914400" cy="54864"/>
          </a:xfrm>
          <a:prstGeom prst="rect">
            <a:avLst/>
          </a:prstGeom>
          <a:solidFill>
            <a:srgbClr val="00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1F2937"/>
                </a:solidFill>
                <a:latin typeface="Aptos"/>
              </a:defRPr>
            </a:pPr>
            <a:r>
              <a:t>food_drink</a:t>
            </a:r>
          </a:p>
        </p:txBody>
      </p:sp>
      <p:sp>
        <p:nvSpPr>
          <p:cNvPr id="7" name="Rectangle 6"/>
          <p:cNvSpPr/>
          <p:nvPr/>
        </p:nvSpPr>
        <p:spPr>
          <a:xfrm>
            <a:off x="2971800" y="1444752"/>
            <a:ext cx="7040880" cy="164592"/>
          </a:xfrm>
          <a:prstGeom prst="rect">
            <a:avLst/>
          </a:prstGeom>
          <a:solidFill>
            <a:srgbClr val="00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85832" y="141732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7365D"/>
                </a:solidFill>
                <a:latin typeface="Aptos"/>
              </a:defRPr>
            </a:pPr>
            <a:r>
              <a:t>133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55648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1F2937"/>
                </a:solidFill>
                <a:latin typeface="Aptos"/>
              </a:defRPr>
            </a:pPr>
            <a:r>
              <a:t>retail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71800" y="1783080"/>
            <a:ext cx="6882063" cy="164592"/>
          </a:xfrm>
          <a:prstGeom prst="rect">
            <a:avLst/>
          </a:prstGeom>
          <a:solidFill>
            <a:srgbClr val="00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27015" y="1755648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7365D"/>
                </a:solidFill>
                <a:latin typeface="Aptos"/>
              </a:defRPr>
            </a:pPr>
            <a:r>
              <a:t>130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93976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1F2937"/>
                </a:solidFill>
                <a:latin typeface="Aptos"/>
              </a:defRPr>
            </a:pPr>
            <a:r>
              <a:t>accommodation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71800" y="2121408"/>
            <a:ext cx="4605688" cy="164592"/>
          </a:xfrm>
          <a:prstGeom prst="rect">
            <a:avLst/>
          </a:prstGeom>
          <a:solidFill>
            <a:srgbClr val="00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0640" y="2093976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7365D"/>
                </a:solidFill>
                <a:latin typeface="Aptos"/>
              </a:defRPr>
            </a:pPr>
            <a:r>
              <a:t>87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432304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1F2937"/>
                </a:solidFill>
                <a:latin typeface="Aptos"/>
              </a:defRPr>
            </a:pPr>
            <a:r>
              <a:t>financial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2459736"/>
            <a:ext cx="4393932" cy="164592"/>
          </a:xfrm>
          <a:prstGeom prst="rect">
            <a:avLst/>
          </a:prstGeom>
          <a:solidFill>
            <a:srgbClr val="00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8884" y="2432304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7365D"/>
                </a:solidFill>
                <a:latin typeface="Aptos"/>
              </a:defRPr>
            </a:pPr>
            <a:r>
              <a:t>83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770632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1F2937"/>
                </a:solidFill>
                <a:latin typeface="Aptos"/>
              </a:defRPr>
            </a:pPr>
            <a:r>
              <a:t>professional_services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71800" y="2798064"/>
            <a:ext cx="4023360" cy="164592"/>
          </a:xfrm>
          <a:prstGeom prst="rect">
            <a:avLst/>
          </a:prstGeom>
          <a:solidFill>
            <a:srgbClr val="00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68312" y="2770632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7365D"/>
                </a:solidFill>
                <a:latin typeface="Aptos"/>
              </a:defRPr>
            </a:pPr>
            <a:r>
              <a:t>76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108960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1F2937"/>
                </a:solidFill>
                <a:latin typeface="Aptos"/>
              </a:defRPr>
            </a:pPr>
            <a:r>
              <a:t>transport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71800" y="3136392"/>
            <a:ext cx="3599848" cy="164592"/>
          </a:xfrm>
          <a:prstGeom prst="rect">
            <a:avLst/>
          </a:prstGeom>
          <a:solidFill>
            <a:srgbClr val="00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4800" y="310896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7365D"/>
                </a:solidFill>
                <a:latin typeface="Aptos"/>
              </a:defRPr>
            </a:pPr>
            <a:r>
              <a:t>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447287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1F2937"/>
                </a:solidFill>
                <a:latin typeface="Aptos"/>
              </a:defRPr>
            </a:pPr>
            <a:r>
              <a:t>government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71800" y="3474719"/>
            <a:ext cx="2752825" cy="164592"/>
          </a:xfrm>
          <a:prstGeom prst="rect">
            <a:avLst/>
          </a:prstGeom>
          <a:solidFill>
            <a:srgbClr val="00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97777" y="3447287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7365D"/>
                </a:solidFill>
                <a:latin typeface="Aptos"/>
              </a:defRPr>
            </a:pPr>
            <a:r>
              <a:t>52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3785615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1F2937"/>
                </a:solidFill>
                <a:latin typeface="Aptos"/>
              </a:defRPr>
            </a:pPr>
            <a:r>
              <a:t>recreation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71800" y="3813048"/>
            <a:ext cx="2276374" cy="164592"/>
          </a:xfrm>
          <a:prstGeom prst="rect">
            <a:avLst/>
          </a:prstGeom>
          <a:solidFill>
            <a:srgbClr val="00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21326" y="3785615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7365D"/>
                </a:solidFill>
                <a:latin typeface="Aptos"/>
              </a:defRPr>
            </a:pPr>
            <a:r>
              <a:t>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4123944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1F2937"/>
                </a:solidFill>
                <a:latin typeface="Aptos"/>
              </a:defRPr>
            </a:pPr>
            <a:r>
              <a:t>other_amenity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71800" y="4151376"/>
            <a:ext cx="1905802" cy="164592"/>
          </a:xfrm>
          <a:prstGeom prst="rect">
            <a:avLst/>
          </a:prstGeom>
          <a:solidFill>
            <a:srgbClr val="00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0754" y="4123944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7365D"/>
                </a:solidFill>
                <a:latin typeface="Aptos"/>
              </a:defRPr>
            </a:pPr>
            <a:r>
              <a:t>36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4462272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1F2937"/>
                </a:solidFill>
                <a:latin typeface="Aptos"/>
              </a:defRPr>
            </a:pPr>
            <a:r>
              <a:t>education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71800" y="4489704"/>
            <a:ext cx="1641107" cy="164592"/>
          </a:xfrm>
          <a:prstGeom prst="rect">
            <a:avLst/>
          </a:prstGeom>
          <a:solidFill>
            <a:srgbClr val="00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86059" y="4462272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7365D"/>
                </a:solidFill>
                <a:latin typeface="Aptos"/>
              </a:defRPr>
            </a:pPr>
            <a:r>
              <a:t>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4800600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1F2937"/>
                </a:solidFill>
                <a:latin typeface="Aptos"/>
              </a:defRPr>
            </a:pPr>
            <a:r>
              <a:t>religion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71800" y="4828032"/>
            <a:ext cx="1641107" cy="164592"/>
          </a:xfrm>
          <a:prstGeom prst="rect">
            <a:avLst/>
          </a:prstGeom>
          <a:solidFill>
            <a:srgbClr val="00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86059" y="48006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7365D"/>
                </a:solidFill>
                <a:latin typeface="Aptos"/>
              </a:defRPr>
            </a:pPr>
            <a:r>
              <a:t>31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5138928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1F2937"/>
                </a:solidFill>
                <a:latin typeface="Aptos"/>
              </a:defRPr>
            </a:pPr>
            <a:r>
              <a:t>healthcare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971800" y="5166360"/>
            <a:ext cx="1270534" cy="164592"/>
          </a:xfrm>
          <a:prstGeom prst="rect">
            <a:avLst/>
          </a:prstGeom>
          <a:solidFill>
            <a:srgbClr val="00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15486" y="5138928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7365D"/>
                </a:solidFill>
                <a:latin typeface="Aptos"/>
              </a:defRPr>
            </a:pPr>
            <a:r>
              <a:t>24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5477255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1F2937"/>
                </a:solidFill>
                <a:latin typeface="Aptos"/>
              </a:defRPr>
            </a:pPr>
            <a:r>
              <a:t>public_service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71800" y="5504688"/>
            <a:ext cx="264694" cy="164592"/>
          </a:xfrm>
          <a:prstGeom prst="rect">
            <a:avLst/>
          </a:prstGeom>
          <a:solidFill>
            <a:srgbClr val="00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09646" y="5477255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7365D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" y="5815583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1F2937"/>
                </a:solidFill>
                <a:latin typeface="Aptos"/>
              </a:defRPr>
            </a:pPr>
            <a:r>
              <a:t>emergency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71800" y="5843016"/>
            <a:ext cx="52938" cy="164592"/>
          </a:xfrm>
          <a:prstGeom prst="rect">
            <a:avLst/>
          </a:prstGeom>
          <a:solidFill>
            <a:srgbClr val="00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97890" y="5815583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7365D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17365D"/>
                </a:solidFill>
                <a:latin typeface="Aptos"/>
              </a:defRPr>
            </a:pPr>
            <a:r>
              <a:t>The deployed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9611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B6573"/>
                </a:solidFill>
                <a:latin typeface="Aptos"/>
              </a:defRPr>
            </a:pPr>
            <a:r>
              <a:t>Three search modes + emergency quick action, backed by the same local database.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1225296"/>
            <a:ext cx="914400" cy="54864"/>
          </a:xfrm>
          <a:prstGeom prst="rect">
            <a:avLst/>
          </a:prstGeom>
          <a:solidFill>
            <a:srgbClr val="00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(20260912-112715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17320"/>
            <a:ext cx="6903720" cy="32336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18120" y="1554480"/>
            <a:ext cx="374903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1F2937"/>
                </a:solidFill>
                <a:latin typeface="Aptos"/>
              </a:defRPr>
            </a:pPr>
            <a:r>
              <a:t>• Standard: name/category/sector filters.</a:t>
            </a:r>
          </a:p>
          <a:p>
            <a:pPr>
              <a:spcAft>
                <a:spcPts val="1000"/>
              </a:spcAft>
              <a:defRPr sz="1500">
                <a:solidFill>
                  <a:srgbClr val="1F2937"/>
                </a:solidFill>
                <a:latin typeface="Aptos"/>
              </a:defRPr>
            </a:pPr>
            <a:r>
              <a:t>• Proximity: browser location, manual coordinates or map click.</a:t>
            </a:r>
          </a:p>
          <a:p>
            <a:pPr>
              <a:spcAft>
                <a:spcPts val="1000"/>
              </a:spcAft>
              <a:defRPr sz="1500">
                <a:solidFill>
                  <a:srgbClr val="1F2937"/>
                </a:solidFill>
                <a:latin typeface="Aptos"/>
              </a:defRPr>
            </a:pPr>
            <a:r>
              <a:t>• Natural Language: constrained parser → structured QueryPlan.</a:t>
            </a:r>
          </a:p>
          <a:p>
            <a:pPr>
              <a:spcAft>
                <a:spcPts val="1000"/>
              </a:spcAft>
              <a:defRPr sz="1500">
                <a:solidFill>
                  <a:srgbClr val="1F2937"/>
                </a:solidFill>
                <a:latin typeface="Aptos"/>
              </a:defRPr>
            </a:pPr>
            <a:r>
              <a:t>• Emergency: first-class category with explicit pilot warning.</a:t>
            </a:r>
          </a:p>
          <a:p>
            <a:pPr>
              <a:spcAft>
                <a:spcPts val="1000"/>
              </a:spcAft>
              <a:defRPr sz="1500">
                <a:solidFill>
                  <a:srgbClr val="1F2937"/>
                </a:solidFill>
                <a:latin typeface="Aptos"/>
              </a:defRPr>
            </a:pPr>
            <a:r>
              <a:t>• Outbound Google Maps navigation links only.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17365D"/>
                </a:solidFill>
                <a:latin typeface="Aptos"/>
              </a:defRPr>
            </a:pPr>
            <a:r>
              <a:t>AI-assisted — without hallucination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9611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B6573"/>
                </a:solidFill>
                <a:latin typeface="Aptos"/>
              </a:defRPr>
            </a:pPr>
            <a:r>
              <a:t>Deterministic natural-language parsing keeps the database as the source of truth.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1225296"/>
            <a:ext cx="914400" cy="54864"/>
          </a:xfrm>
          <a:prstGeom prst="rect">
            <a:avLst/>
          </a:prstGeom>
          <a:solidFill>
            <a:srgbClr val="00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466344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DD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81912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7365D"/>
                </a:solidFill>
                <a:latin typeface="Aptos"/>
              </a:defRPr>
            </a:pPr>
            <a:r>
              <a:t>“hospitals in F-6”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0680" y="157276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C83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153619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1F2937"/>
                </a:solidFill>
                <a:latin typeface="Aptos"/>
              </a:defRPr>
            </a:pPr>
            <a:r>
              <a:t>1 • Kulsum International Hospital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466344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DD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450592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7365D"/>
                </a:solidFill>
                <a:latin typeface="Aptos"/>
              </a:defRPr>
            </a:pPr>
            <a:r>
              <a:t>“food in F-6”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24414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C83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240487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1F2937"/>
                </a:solidFill>
                <a:latin typeface="Aptos"/>
              </a:defRPr>
            </a:pPr>
            <a:r>
              <a:t>10 POIs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54680"/>
            <a:ext cx="466344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DD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319272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7365D"/>
                </a:solidFill>
                <a:latin typeface="Aptos"/>
              </a:defRPr>
            </a:pPr>
            <a:r>
              <a:t>“nearest hospital”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33101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C83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327355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1F2937"/>
                </a:solidFill>
                <a:latin typeface="Aptos"/>
              </a:defRPr>
            </a:pPr>
            <a:r>
              <a:t>Nearest result + distance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023359"/>
            <a:ext cx="466344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DD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187951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7365D"/>
                </a:solidFill>
                <a:latin typeface="Aptos"/>
              </a:defRPr>
            </a:pPr>
            <a:r>
              <a:t>“emergency within 2 km”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41788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C83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4142231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1F2937"/>
                </a:solidFill>
                <a:latin typeface="Aptos"/>
              </a:defRPr>
            </a:pPr>
            <a:r>
              <a:t>1 • تھانہ کوہسار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892040"/>
            <a:ext cx="4663440" cy="621792"/>
          </a:xfrm>
          <a:prstGeom prst="roundRect">
            <a:avLst/>
          </a:prstGeom>
          <a:solidFill>
            <a:srgbClr val="FFFFFF"/>
          </a:solidFill>
          <a:ln>
            <a:solidFill>
              <a:srgbClr val="DD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056631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7365D"/>
                </a:solidFill>
                <a:latin typeface="Aptos"/>
              </a:defRPr>
            </a:pPr>
            <a:r>
              <a:t>“best beautiful places”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0474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C83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501091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1F2937"/>
                </a:solidFill>
                <a:latin typeface="Aptos"/>
              </a:defRPr>
            </a:pPr>
            <a:r>
              <a:t>Safe unsupported-query message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9436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78A55"/>
                </a:solidFill>
                <a:latin typeface="Aptos"/>
              </a:defRPr>
            </a:pPr>
            <a:r>
              <a:t>No arbitrary SQL • No external LLM • No invented coordinates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17365D"/>
                </a:solidFill>
                <a:latin typeface="Aptos"/>
              </a:defRPr>
            </a:pPr>
            <a:r>
              <a:t>Geographic intelligence that stays synchronized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9611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B6573"/>
                </a:solidFill>
                <a:latin typeface="Aptos"/>
              </a:defRPr>
            </a:pPr>
            <a:r>
              <a:t>Map clicks update the exact SQLite origin used for radius and distance calculations.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1225296"/>
            <a:ext cx="914400" cy="54864"/>
          </a:xfrm>
          <a:prstGeom prst="rect">
            <a:avLst/>
          </a:prstGeom>
          <a:solidFill>
            <a:srgbClr val="00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s(3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7543800" cy="32306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75320" y="1554480"/>
            <a:ext cx="3337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1F2937"/>
                </a:solidFill>
                <a:latin typeface="Aptos"/>
              </a:defRPr>
            </a:pPr>
            <a:r>
              <a:t>• Haversine distance locally.</a:t>
            </a:r>
          </a:p>
          <a:p>
            <a:pPr>
              <a:spcAft>
                <a:spcPts val="1000"/>
              </a:spcAft>
              <a:defRPr sz="1500">
                <a:solidFill>
                  <a:srgbClr val="1F2937"/>
                </a:solidFill>
                <a:latin typeface="Aptos"/>
              </a:defRPr>
            </a:pPr>
            <a:r>
              <a:t>• Red origin + radius circle.</a:t>
            </a:r>
          </a:p>
          <a:p>
            <a:pPr>
              <a:spcAft>
                <a:spcPts val="1000"/>
              </a:spcAft>
              <a:defRPr sz="1500">
                <a:solidFill>
                  <a:srgbClr val="1F2937"/>
                </a:solidFill>
                <a:latin typeface="Aptos"/>
              </a:defRPr>
            </a:pPr>
            <a:r>
              <a:t>• POI click or empty-map click moves origin.</a:t>
            </a:r>
          </a:p>
          <a:p>
            <a:pPr>
              <a:spcAft>
                <a:spcPts val="1000"/>
              </a:spcAft>
              <a:defRPr sz="1500">
                <a:solidFill>
                  <a:srgbClr val="1F2937"/>
                </a:solidFill>
                <a:latin typeface="Aptos"/>
              </a:defRPr>
            </a:pPr>
            <a:r>
              <a:t>• Results and distances recalculate.</a:t>
            </a:r>
          </a:p>
          <a:p>
            <a:pPr>
              <a:spcAft>
                <a:spcPts val="1000"/>
              </a:spcAft>
              <a:defRPr sz="1500">
                <a:solidFill>
                  <a:srgbClr val="1F2937"/>
                </a:solidFill>
                <a:latin typeface="Aptos"/>
              </a:defRPr>
            </a:pPr>
            <a:r>
              <a:t>• OSM attribution visible on map.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50749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  <a:latin typeface="Aptos"/>
              </a:defRPr>
            </a:pPr>
            <a:r>
              <a:t>Correctness was prioritized over eliminating Streamlit rerun dimming.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17365D"/>
                </a:solidFill>
                <a:latin typeface="Aptos"/>
              </a:defRPr>
            </a:pPr>
            <a:r>
              <a:t>Deployment &amp; mobile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9611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B6573"/>
                </a:solidFill>
                <a:latin typeface="Aptos"/>
              </a:defRPr>
            </a:pPr>
            <a:r>
              <a:t>The local HTTP limitation disappeared where it should: on the final HTTPS deployment.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1225296"/>
            <a:ext cx="914400" cy="54864"/>
          </a:xfrm>
          <a:prstGeom prst="rect">
            <a:avLst/>
          </a:prstGeom>
          <a:solidFill>
            <a:srgbClr val="00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97706"/>
                </a:solidFill>
                <a:latin typeface="Aptos"/>
              </a:defRPr>
            </a:pPr>
            <a:r>
              <a:t>LOCAL LAN / HTTP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4114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F2937"/>
                </a:solidFill>
                <a:latin typeface="Aptos"/>
              </a:defRPr>
            </a:pPr>
            <a:r>
              <a:t>Browser geolocation could be blocked.</a:t>
            </a:r>
            <a:br/>
            <a:r>
              <a:t>Safe fallback + manual/map origin remained available.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5087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78A55"/>
                </a:solidFill>
                <a:latin typeface="Aptos"/>
              </a:defRPr>
            </a:pPr>
            <a:r>
              <a:t>PRODUCTION / HTTPS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920240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7365D"/>
                </a:solidFill>
                <a:latin typeface="Aptos"/>
              </a:defRPr>
            </a:pPr>
            <a:r>
              <a:t>iPhone automatic browser geolocation validated successfully.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7C83"/>
                </a:solidFill>
                <a:latin typeface="Aptos"/>
              </a:defRPr>
            </a:pPr>
            <a:r>
              <a:t>Live URL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519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7365D"/>
                </a:solidFill>
                <a:latin typeface="Aptos"/>
              </a:defRPr>
            </a:pPr>
            <a:r>
              <a:t>islamabad-geointel.streamlit.app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79476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1F2937"/>
                </a:solidFill>
                <a:latin typeface="Aptos"/>
              </a:defRPr>
            </a:pPr>
            <a:r>
              <a:t>GitHub → Streamlit Community Cloud</a:t>
            </a:r>
            <a:br/>
            <a:r>
              <a:t>main • app.py • Python 3.14 • no secrets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17365D"/>
                </a:solidFill>
                <a:latin typeface="Aptos"/>
              </a:defRPr>
            </a:pPr>
            <a:r>
              <a:t>Verification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9611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B6573"/>
                </a:solidFill>
                <a:latin typeface="Aptos"/>
              </a:defRPr>
            </a:pPr>
            <a:r>
              <a:t>Automated tests plus live functional checks — not just a successful build.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1225296"/>
            <a:ext cx="914400" cy="54864"/>
          </a:xfrm>
          <a:prstGeom prst="rect">
            <a:avLst/>
          </a:prstGeom>
          <a:solidFill>
            <a:srgbClr val="00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242316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D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536192"/>
            <a:ext cx="22037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007C83"/>
                </a:solidFill>
                <a:latin typeface="Aptos"/>
              </a:defRPr>
            </a:pPr>
            <a:r>
              <a:t>52/52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039112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B6573"/>
                </a:solidFill>
                <a:latin typeface="Aptos"/>
              </a:defRPr>
            </a:pPr>
            <a:r>
              <a:t>automated tests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417320"/>
            <a:ext cx="242316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D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84448" y="1536192"/>
            <a:ext cx="22037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007C83"/>
                </a:solidFill>
                <a:latin typeface="Aptos"/>
              </a:defRPr>
            </a:pPr>
            <a:r>
              <a:t>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4448" y="2039112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B6573"/>
                </a:solidFill>
                <a:latin typeface="Aptos"/>
              </a:defRPr>
            </a:pPr>
            <a:r>
              <a:t>“bank” results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417320"/>
            <a:ext cx="242316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D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1536192"/>
            <a:ext cx="22037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007C83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2039112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B6573"/>
                </a:solidFill>
                <a:latin typeface="Aptos"/>
              </a:defRPr>
            </a:pPr>
            <a:r>
              <a:t>hospital in F-6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59" y="1417320"/>
            <a:ext cx="242316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D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62287" y="1536192"/>
            <a:ext cx="22037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007C83"/>
                </a:solidFill>
                <a:latin typeface="Aptos"/>
              </a:defRPr>
            </a:pPr>
            <a:r>
              <a:t>YES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62287" y="2039112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B6573"/>
                </a:solidFill>
                <a:latin typeface="Aptos"/>
              </a:defRPr>
            </a:pPr>
            <a:r>
              <a:t>mobile geolocation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06324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F2937"/>
                </a:solidFill>
                <a:latin typeface="Aptos"/>
              </a:defRPr>
            </a:pPr>
            <a:r>
              <a:t>• SQLite integrity check: ok.</a:t>
            </a:r>
          </a:p>
          <a:p>
            <a:pPr>
              <a:spcAft>
                <a:spcPts val="1000"/>
              </a:spcAft>
              <a:defRPr sz="1700">
                <a:solidFill>
                  <a:srgbClr val="1F2937"/>
                </a:solidFill>
                <a:latin typeface="Aptos"/>
              </a:defRPr>
            </a:pPr>
            <a:r>
              <a:t>• Live Proximity: red origin, circle, active origin and distances all update.</a:t>
            </a:r>
          </a:p>
          <a:p>
            <a:pPr>
              <a:spcAft>
                <a:spcPts val="1000"/>
              </a:spcAft>
              <a:defRPr sz="1700">
                <a:solidFill>
                  <a:srgbClr val="1F2937"/>
                </a:solidFill>
                <a:latin typeface="Aptos"/>
              </a:defRPr>
            </a:pPr>
            <a:r>
              <a:t>• Live Emergency: warning + 1 pilot record + map/proximity validated.</a:t>
            </a:r>
          </a:p>
          <a:p>
            <a:pPr>
              <a:spcAft>
                <a:spcPts val="1000"/>
              </a:spcAft>
              <a:defRPr sz="1700">
                <a:solidFill>
                  <a:srgbClr val="1F2937"/>
                </a:solidFill>
                <a:latin typeface="Aptos"/>
              </a:defRPr>
            </a:pPr>
            <a:r>
              <a:t>• Deployment commit 77eff03 pushed to origin/main.</a:t>
            </a:r>
          </a:p>
          <a:p>
            <a:pPr>
              <a:spcAft>
                <a:spcPts val="1000"/>
              </a:spcAft>
              <a:defRPr sz="1700">
                <a:solidFill>
                  <a:srgbClr val="1F2937"/>
                </a:solidFill>
                <a:latin typeface="Aptos"/>
              </a:defRPr>
            </a:pPr>
            <a:r>
              <a:t>• Working tree clean after archiving obsolete draft artifacts.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17365D"/>
                </a:solidFill>
                <a:latin typeface="Aptos"/>
              </a:defRPr>
            </a:pPr>
            <a:r>
              <a:t>Responsible data &amp; cost posture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9611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B6573"/>
                </a:solidFill>
                <a:latin typeface="Aptos"/>
              </a:defRPr>
            </a:pPr>
            <a:r>
              <a:t>The prototype is intentionally conservative about provenance, uncertainty and external services.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1225296"/>
            <a:ext cx="914400" cy="54864"/>
          </a:xfrm>
          <a:prstGeom prst="rect">
            <a:avLst/>
          </a:prstGeom>
          <a:solidFill>
            <a:srgbClr val="00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F2937"/>
                </a:solidFill>
                <a:latin typeface="Aptos"/>
              </a:defRPr>
            </a:pPr>
            <a:r>
              <a:t>• OSM-derived data remains under ODbL; attribution retained.</a:t>
            </a:r>
          </a:p>
          <a:p>
            <a:pPr>
              <a:spcAft>
                <a:spcPts val="1000"/>
              </a:spcAft>
              <a:defRPr sz="1800">
                <a:solidFill>
                  <a:srgbClr val="1F2937"/>
                </a:solidFill>
                <a:latin typeface="Aptos"/>
              </a:defRPr>
            </a:pPr>
            <a:r>
              <a:t>• Software code licensed under MIT.</a:t>
            </a:r>
          </a:p>
          <a:p>
            <a:pPr>
              <a:spcAft>
                <a:spcPts val="1000"/>
              </a:spcAft>
              <a:defRPr sz="1800">
                <a:solidFill>
                  <a:srgbClr val="1F2937"/>
                </a:solidFill>
                <a:latin typeface="Aptos"/>
              </a:defRPr>
            </a:pPr>
            <a:r>
              <a:t>• No Google scraping; no billing-backed Places/Geocoding API.</a:t>
            </a:r>
          </a:p>
          <a:p>
            <a:pPr>
              <a:spcAft>
                <a:spcPts val="1000"/>
              </a:spcAft>
              <a:defRPr sz="1800">
                <a:solidFill>
                  <a:srgbClr val="1F2937"/>
                </a:solidFill>
                <a:latin typeface="Aptos"/>
              </a:defRPr>
            </a:pPr>
            <a:r>
              <a:t>• No external generative-AI API for natural-language search.</a:t>
            </a:r>
          </a:p>
          <a:p>
            <a:pPr>
              <a:spcAft>
                <a:spcPts val="1000"/>
              </a:spcAft>
              <a:defRPr sz="1800">
                <a:solidFill>
                  <a:srgbClr val="1F2937"/>
                </a:solidFill>
                <a:latin typeface="Aptos"/>
              </a:defRPr>
            </a:pPr>
            <a:r>
              <a:t>• Emergency result is explicitly labelled as incomplete pilot coverage.</a:t>
            </a:r>
          </a:p>
          <a:p>
            <a:pPr>
              <a:spcAft>
                <a:spcPts val="1000"/>
              </a:spcAft>
              <a:defRPr sz="1800">
                <a:solidFill>
                  <a:srgbClr val="1F2937"/>
                </a:solidFill>
                <a:latin typeface="Aptos"/>
              </a:defRPr>
            </a:pPr>
            <a:r>
              <a:t>• OSM contact/address/opening-hours values are source-derived, not independently verified.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17365D"/>
                </a:solidFill>
                <a:latin typeface="Aptos"/>
              </a:defRPr>
            </a:pPr>
            <a:r>
              <a:t>Limitations → production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9611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B6573"/>
                </a:solidFill>
                <a:latin typeface="Aptos"/>
              </a:defRPr>
            </a:pPr>
            <a:r>
              <a:t>A hackathon pilot with a clear path to city-scale operation.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1225296"/>
            <a:ext cx="914400" cy="54864"/>
          </a:xfrm>
          <a:prstGeom prst="rect">
            <a:avLst/>
          </a:prstGeom>
          <a:solidFill>
            <a:srgbClr val="00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  <a:latin typeface="Aptos"/>
              </a:defRPr>
            </a:pPr>
            <a:r>
              <a:t>CURRENT LIMITS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4389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Aptos"/>
              </a:defRPr>
            </a:pPr>
            <a:r>
              <a:t>• F-5/F-6/F-7 only.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Aptos"/>
              </a:defRPr>
            </a:pPr>
            <a:r>
              <a:t>• No consistent sector polygons.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Aptos"/>
              </a:defRPr>
            </a:pPr>
            <a:r>
              <a:t>• OSM completeness/freshness varies.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Aptos"/>
              </a:defRPr>
            </a:pPr>
            <a:r>
              <a:t>• Radius search uses large candidate scan.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Aptos"/>
              </a:defRPr>
            </a:pPr>
            <a:r>
              <a:t>• Bounded NL vocabulary.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4173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78A55"/>
                </a:solidFill>
                <a:latin typeface="Aptos"/>
              </a:defRPr>
            </a:pPr>
            <a:r>
              <a:t>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828800"/>
            <a:ext cx="4572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Aptos"/>
              </a:defRPr>
            </a:pPr>
            <a:r>
              <a:t>• Islamabad-wide scheduled acquisition.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Aptos"/>
              </a:defRPr>
            </a:pPr>
            <a:r>
              <a:t>• Authoritative polygons + point-in-polygon.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Aptos"/>
              </a:defRPr>
            </a:pPr>
            <a:r>
              <a:t>• PostgreSQL/PostGIS at scale.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Aptos"/>
              </a:defRPr>
            </a:pPr>
            <a:r>
              <a:t>• Broader safe NL grammar.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Aptos"/>
              </a:defRPr>
            </a:pPr>
            <a:r>
              <a:t>• Freshness, audit, export &amp; governance tooling.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17365D"/>
                </a:solidFill>
                <a:latin typeface="Aptos"/>
              </a:defRPr>
            </a:pPr>
            <a:r>
              <a:t>Why this is hackathon-ready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9611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5B6573"/>
                </a:solidFill>
                <a:latin typeface="Aptos"/>
              </a:defRPr>
            </a:pPr>
            <a:r>
              <a:t>A complete vertical slice: data engineering → geospatial logic → AI-assisted UX → deployment.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1225296"/>
            <a:ext cx="914400" cy="54864"/>
          </a:xfrm>
          <a:prstGeom prst="rect">
            <a:avLst/>
          </a:prstGeom>
          <a:solidFill>
            <a:srgbClr val="007C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463040"/>
            <a:ext cx="333756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D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64208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7C83"/>
                </a:solidFill>
                <a:latin typeface="Aptos"/>
              </a:defRPr>
            </a:pPr>
            <a:r>
              <a:t>OWN DATA 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21408"/>
            <a:ext cx="2971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7365D"/>
                </a:solidFill>
                <a:latin typeface="Aptos"/>
              </a:defRPr>
            </a:pPr>
            <a:r>
              <a:t>800 normalized POIs</a:t>
            </a:r>
            <a:br/>
            <a:r>
              <a:t>Auditable provenance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63040"/>
            <a:ext cx="333756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D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664208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7C83"/>
                </a:solidFill>
                <a:latin typeface="Aptos"/>
              </a:defRPr>
            </a:pPr>
            <a:r>
              <a:t>SAFE AI UX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121408"/>
            <a:ext cx="2971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7365D"/>
                </a:solidFill>
                <a:latin typeface="Aptos"/>
              </a:defRPr>
            </a:pPr>
            <a:r>
              <a:t>Deterministic NL</a:t>
            </a:r>
            <a:br/>
            <a:r>
              <a:t>No hallucinated places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63040"/>
            <a:ext cx="333756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D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59" y="1664208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7C83"/>
                </a:solidFill>
                <a:latin typeface="Aptos"/>
              </a:defRPr>
            </a:pPr>
            <a:r>
              <a:t>GEO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59" y="2121408"/>
            <a:ext cx="2971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7365D"/>
                </a:solidFill>
                <a:latin typeface="Aptos"/>
              </a:defRPr>
            </a:pPr>
            <a:r>
              <a:t>Radius / nearest</a:t>
            </a:r>
            <a:br/>
            <a:r>
              <a:t>Interactive origin sync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520440"/>
            <a:ext cx="333756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D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721608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7C83"/>
                </a:solidFill>
                <a:latin typeface="Aptos"/>
              </a:defRPr>
            </a:pPr>
            <a:r>
              <a:t>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178808"/>
            <a:ext cx="2971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7365D"/>
                </a:solidFill>
                <a:latin typeface="Aptos"/>
              </a:defRPr>
            </a:pPr>
            <a:r>
              <a:t>52 passing tests</a:t>
            </a:r>
            <a:br/>
            <a:r>
              <a:t>Git milestones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3520440"/>
            <a:ext cx="333756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D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3721608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7C83"/>
                </a:solidFill>
                <a:latin typeface="Aptos"/>
              </a:defRPr>
            </a:pPr>
            <a:r>
              <a:t>MOBILE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4178808"/>
            <a:ext cx="2971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7365D"/>
                </a:solidFill>
                <a:latin typeface="Aptos"/>
              </a:defRPr>
            </a:pPr>
            <a:r>
              <a:t>Responsive UI</a:t>
            </a:r>
            <a:br/>
            <a:r>
              <a:t>HTTPS geolocation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83879" y="3520440"/>
            <a:ext cx="333756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D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59" y="3721608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7C83"/>
                </a:solidFill>
                <a:latin typeface="Aptos"/>
              </a:defRPr>
            </a:pPr>
            <a:r>
              <a:t>LOW COST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4178808"/>
            <a:ext cx="2971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7365D"/>
                </a:solidFill>
                <a:latin typeface="Aptos"/>
              </a:defRPr>
            </a:pPr>
            <a:r>
              <a:t>Open data</a:t>
            </a:r>
            <a:br/>
            <a:r>
              <a:t>No paid Google/LLM API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23444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  <a:latin typeface="Aptos"/>
              </a:defRPr>
            </a:pPr>
            <a:r>
              <a:t>Islamabad GeoIntel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DDEAF5"/>
                </a:solidFill>
                <a:latin typeface="Aptos"/>
              </a:defRPr>
            </a:pPr>
            <a:r>
              <a:t>Open data. Owned intelligence. Auditable AI-assisted search.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32461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A7E5D9"/>
                </a:solidFill>
                <a:latin typeface="Aptos"/>
              </a:defRPr>
            </a:pPr>
            <a:r>
              <a:t>LIVE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3703320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ptos"/>
              </a:defRPr>
            </a:pPr>
            <a:r>
              <a:t>islamabad-geointel.streamlit.app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57200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AF5"/>
                </a:solidFill>
                <a:latin typeface="Aptos"/>
              </a:defRPr>
            </a:pPr>
            <a:r>
              <a:t>Source: github.com/ahmadsajjad-logix/islamabad-geointel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56235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